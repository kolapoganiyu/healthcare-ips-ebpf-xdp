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Proposed ML-IPS (Config A)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Benign</c:v>
                </c:pt>
                <c:pt idx="1">
                  <c:v>SYN Flood</c:v>
                </c:pt>
                <c:pt idx="2">
                  <c:v>Port Scan</c:v>
                </c:pt>
                <c:pt idx="3">
                  <c:v>Mixed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98.1</c:v>
                </c:pt>
                <c:pt idx="3">
                  <c:v>97.8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63-429F-B7A6-FBD6546557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Static eBPF Baseline (Config B)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Benign</c:v>
                </c:pt>
                <c:pt idx="1">
                  <c:v>SYN Flood</c:v>
                </c:pt>
                <c:pt idx="2">
                  <c:v>Port Scan</c:v>
                </c:pt>
                <c:pt idx="3">
                  <c:v>Mixed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85.2</c:v>
                </c:pt>
                <c:pt idx="2">
                  <c:v>71.400000000000006</c:v>
                </c:pt>
                <c:pt idx="3">
                  <c:v>76.3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D63-429F-B7A6-FBD6546557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Traditional IPS (Config C)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Benign</c:v>
                </c:pt>
                <c:pt idx="1">
                  <c:v>SYN Flood</c:v>
                </c:pt>
                <c:pt idx="2">
                  <c:v>Port Scan</c:v>
                </c:pt>
                <c:pt idx="3">
                  <c:v>Mixed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78.599999999999994</c:v>
                </c:pt>
                <c:pt idx="2">
                  <c:v>68.2</c:v>
                </c:pt>
                <c:pt idx="3">
                  <c:v>71.900000000000006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D63-429F-B7A6-FBD6546557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Proposed ML-IPS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SYN Flood</c:v>
                </c:pt>
                <c:pt idx="1">
                  <c:v>Port Scan</c:v>
                </c:pt>
                <c:pt idx="2">
                  <c:v>Mixed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2.1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B2-494F-B327-91207E63AF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Traditional IPS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SYN Flood</c:v>
                </c:pt>
                <c:pt idx="1">
                  <c:v>Port Scan</c:v>
                </c:pt>
                <c:pt idx="2">
                  <c:v>Mixed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12.4</c:v>
                </c:pt>
                <c:pt idx="1">
                  <c:v>18.7</c:v>
                </c:pt>
                <c:pt idx="2">
                  <c:v>15.2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B2-494F-B327-91207E63AF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532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583680" y="365760"/>
            <a:ext cx="411480" cy="4114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223760" y="365760"/>
            <a:ext cx="411480" cy="4114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863840" y="365760"/>
            <a:ext cx="411480" cy="4114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583680" y="1005840"/>
            <a:ext cx="411480" cy="4114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223760" y="1005840"/>
            <a:ext cx="411480" cy="41148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0040" y="164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East London  |  MSc Cyber Security Engineering  |  CN7000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658368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Machine Learning-Based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Prevention System for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Networks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" y="26060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eBPF and XDP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" y="315468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0040" y="329184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Ganiyu Kolapo Abdulrasheed  |  Student ID: U2874806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5844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Shahzad Memon  |  May 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4160520"/>
            <a:ext cx="19659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20040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98.62%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" y="45720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96312" y="4160520"/>
            <a:ext cx="19659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496312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0.61ms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496312" y="45720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72584" y="4160520"/>
            <a:ext cx="19659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672584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72584" y="45720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48856" y="4160520"/>
            <a:ext cx="196596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848856" y="42062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48856" y="45720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42062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20040" y="713232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7223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9326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cyber threats &amp; problem statement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197864"/>
            <a:ext cx="43891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0040" y="1307592"/>
            <a:ext cx="42062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20040" y="1307592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3167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&amp; Questions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15270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Aim, objectives and research gaps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792224"/>
            <a:ext cx="43891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0040" y="1901952"/>
            <a:ext cx="42062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20040" y="1901952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19110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121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eBPF, XDP, ML — what exists &amp; what's missing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386584"/>
            <a:ext cx="43891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0040" y="2496312"/>
            <a:ext cx="42062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20040" y="2496312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25054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Design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27157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testbed, dataset, ML pipeline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980944"/>
            <a:ext cx="43891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20040" y="3090672"/>
            <a:ext cx="42062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320040" y="3090672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0998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33101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eBPF/XDP module, RF classifier, confidence framework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575304"/>
            <a:ext cx="43891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20040" y="3685032"/>
            <a:ext cx="42062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320040" y="3685032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36941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39044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scenarios, performance metrics, comparisons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169664"/>
            <a:ext cx="43891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320040" y="4279392"/>
            <a:ext cx="42062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20040" y="4279392"/>
            <a:ext cx="4206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42885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44988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 and next steps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20640" y="685800"/>
            <a:ext cx="3749040" cy="4160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5120640" y="868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5780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98.62%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20840" y="1325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57800" y="19476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98.62%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720840" y="19476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57800" y="25694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 ms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20840" y="25694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57800" y="31912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20840" y="31912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57800" y="38130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~3,575/wk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20840" y="38130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on Healthcare (2025)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Healthcare Cyber Threat Crisis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3,575 weekly cyberattacks on healthcare orgs in 2025 — a 38% surge YoY </a:t>
            </a: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(Varma, 2026)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18013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sell for $260–$310 each — 10× more than financial data </a:t>
            </a: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(Varma, 2026)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&amp; DDoS attacks delay diagnostics, divert ambulances, risk patient lives </a:t>
            </a: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(Kostopoulos et al., 2023)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880360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11480" y="29900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IoMT devices create persistent network vulnerabilities </a:t>
            </a: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(Rajesh et al., 2024)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474720"/>
            <a:ext cx="3657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11480" y="35844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EHR, PACS and patient monitoring systems require 24/7 uninterrupted availability </a:t>
            </a: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(Sudha et al., 2023)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68580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846320" y="8046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IPS Falls Short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207008"/>
            <a:ext cx="3840480" cy="53035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919472" y="12344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User-space processing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19472" y="1408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CPU overhead, excessive latency under flood conditions  (Monteiro &amp; Sousa, 2023)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0" y="1828800"/>
            <a:ext cx="3840480" cy="53035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919472" y="18562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detection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9472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against novel / zero-day attacks  (Khan et al., 2026)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2450592"/>
            <a:ext cx="3840480" cy="53035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919472" y="24780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IDS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19472" y="2651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only — no active enforcement capability  (Hussain et al., 2023)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46320" y="3072384"/>
            <a:ext cx="3840480" cy="53035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919472" y="3099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solutions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9472" y="3273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for healthcare's life-critical constraints  (Kim, 2025)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3694176"/>
            <a:ext cx="3840480" cy="530352"/>
          </a:xfrm>
          <a:prstGeom prst="rect">
            <a:avLst/>
          </a:prstGeom>
          <a:solidFill>
            <a:srgbClr val="F0F9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919472" y="3721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19472" y="3895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blocking legitimate clinical traffic  (Lee et al., 2024)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sources: Varma (2026); Kostopoulos et al. (2023); Monteiro &amp; Sousa (2023); Khan et al. (2026); Kim (2025); Lee et al. (2024); Rajesh et al. (2024); Sudha et al. (2023)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&amp;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8595360" cy="475488"/>
          </a:xfrm>
          <a:prstGeom prst="rect">
            <a:avLst/>
          </a:prstGeom>
          <a:solidFill>
            <a:srgbClr val="0A1628"/>
          </a:solidFill>
          <a:ln/>
        </p:spPr>
        <p:txBody>
          <a:bodyPr wrap="square" lIns="0" tIns="101600" rIns="10160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Design, implement and evaluate an ML-Based IPS for healthcare networks using eBPF/XDP — enabling kernel-level prevention with safety-aware, low false-positive enforcement.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27432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457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38988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healthcare-specific cybersecurity threats and IPS operational constraints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298448"/>
            <a:ext cx="27432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18688" y="1298448"/>
            <a:ext cx="457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18688" y="1298448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67328" y="138988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hybrid IPS architecture separating kernel-level (eBPF/XDP) from ML-based user-space classification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298448"/>
            <a:ext cx="27432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163056" y="1298448"/>
            <a:ext cx="457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163056" y="1298448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11696" y="1389888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XDP/eBPF module for real-time packet feature extraction and adaptive enforcement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441448"/>
            <a:ext cx="43434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4320" y="2441448"/>
            <a:ext cx="457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74320" y="2441448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253288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lightweight Random Forest classifier on CIC-IDS-2017 for real-time inference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441448"/>
            <a:ext cx="43434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800600" y="2441448"/>
            <a:ext cx="45720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00600" y="2441448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253288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against baselines across detection accuracy, FPR, latency, throughput, and CPU utilisation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Questions: (RQ1) Limitations of traditional IPS in healthcare?  (RQ2) Effectiveness of eBPF/XDP for kernel-level prevention?  (RQ3) Performance of hybrid ML+eBPF architecture?  (RQ4) Impact of confidence-based framework on FPR?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685800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658368"/>
            <a:ext cx="685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24128" y="6949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Cyber Threats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9326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Varma (2026); Sudha et al. (2023); Madavarapu et al. (2023); Rajesh et al. (2024)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0" y="731520"/>
            <a:ext cx="0" cy="5486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91840" y="731520"/>
            <a:ext cx="777240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91840" y="73152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33088" y="749808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eBPF/XDP IPS solutions designed around clinical availability constraints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463040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74320" y="1463040"/>
            <a:ext cx="685800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74320" y="1463040"/>
            <a:ext cx="685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24128" y="14996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as Kernel Security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Soldani et al. (2023); Feng et al. (2023); Nicolau et al. (2024)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0" y="1536192"/>
            <a:ext cx="0" cy="5486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91840" y="1536192"/>
            <a:ext cx="777240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291840" y="153619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33088" y="155448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applied to cloud/5G/IoT environments — not validated for hospital networks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267712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74320" y="2267712"/>
            <a:ext cx="685800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74320" y="2267712"/>
            <a:ext cx="685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24128" y="2304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XDP High-Performance Processing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4128" y="2542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Monteiro &amp; Sousa (2023); Chen et al. (2023); Loureiro et al. (2023); Živanović &amp; Vuletić (2025)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0" y="2340864"/>
            <a:ext cx="0" cy="5486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291840" y="2340864"/>
            <a:ext cx="777240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291840" y="234086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33088" y="2359152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XDP systems lack safety-aware, confidence-graduated enforcement mechanisms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072384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274320" y="3072384"/>
            <a:ext cx="685800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74320" y="3072384"/>
            <a:ext cx="685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24128" y="3108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Intrusion Detection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24128" y="334670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et al. (2026); Sadia et al. (2024); Javeed et al. (2023, 2024); Wazid et al. (2024)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00400" y="3145536"/>
            <a:ext cx="0" cy="5486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3291840" y="3145536"/>
            <a:ext cx="777240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3291840" y="314553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33088" y="316382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ML-IDS accuracy does not translate to low false-positive prevention in life-critical systems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877056"/>
            <a:ext cx="8595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274320" y="3877056"/>
            <a:ext cx="685800" cy="6949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274320" y="3877056"/>
            <a:ext cx="6858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24128" y="3913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Kernel–User Architectures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24128" y="41513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Kostopoulos et al. (2023); Lee et al. (2024); Kim (2025); Li et al. (2023)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200400" y="3950208"/>
            <a:ext cx="0" cy="5486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3291840" y="3950208"/>
            <a:ext cx="777240" cy="201168"/>
          </a:xfrm>
          <a:prstGeom prst="rect">
            <a:avLst/>
          </a:prstGeom>
          <a:solidFill>
            <a:srgbClr val="F59E0B">
              <a:alpha val="80000"/>
            </a:srgbClr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3291840" y="39502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133088" y="3968496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validated on commodity hardware with healthcare-specific false-positive constraints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Positioning: This dissertation is the FIRST to combine eBPF/XDP + ML with a confidence-based adaptive response framework specifically designed and validated for life-critical healthcare network deployment.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System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0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Two-Tier Architecture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114800" cy="1371600"/>
          </a:xfrm>
          <a:prstGeom prst="rect">
            <a:avLst/>
          </a:prstGeom>
          <a:solidFill>
            <a:srgbClr val="0A1628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Kernel Space (eBPF/XDP)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XDP hook at NIC — earliest packet intercept point
• eBPF C program: feature extraction (flow stats)
• Ring buffer → passes flow data to user space
• Enforces: PASS / RATE-LIMIT / DROP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2423160"/>
            <a:ext cx="822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ring buffer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4320" y="2724912"/>
            <a:ext cx="4114800" cy="1371600"/>
          </a:xfrm>
          <a:prstGeom prst="rect">
            <a:avLst/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2779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User Space (ML Engine)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09067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daemon: consumes flow features
• Random Forest classifier → prediction + confidence score
• Confidence-based 3-tier response: Monitor / Rate-Limit / Block
• Writes enforcement decisions back via eBPF maps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4206240"/>
            <a:ext cx="41148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5760" y="4251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SOC Dashboard — Real-time visualisation, alert management, enforcement log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6400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Response Framework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097280"/>
            <a:ext cx="4160520" cy="932688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16052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800600" y="10972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 |  Confidence &lt; 60%  →  MONITOR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44475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only — do not enforce. Protect clinical availability.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148840"/>
            <a:ext cx="4160520" cy="93268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709160" y="2148840"/>
            <a:ext cx="416052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00600" y="21488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  |  Confidence 60–80%  →  RATE-LIMIT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4963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suspicious flows. Preserve connection continuity.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200400"/>
            <a:ext cx="4160520" cy="932688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709160" y="3200400"/>
            <a:ext cx="416052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00600" y="32004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  |  Confidence &gt; 80%  →  BLOCK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5478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drop. High-confidence malicious classification.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4297680"/>
            <a:ext cx="4160520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800600" y="43159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Testbed: 2× Ubuntu 22.04 VMs — IPS-Node (4 vCPU/8GB) + Traffic-Generator (2 vCPU/4GB)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82880" y="487375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informed by: Kostopoulos et al. (2023); Monteiro &amp; Sousa (2023); Chen et al. (2023); Lee et al. (2024). Confidence-tier design: original contribution of this dissertation.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40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0574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0574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20040" y="10058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xdp_ips.c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12801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eBPF/XDP Kernel Module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48132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parser, flow key hashing, ring buffer export, enforcement maps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87168" y="1005840"/>
            <a:ext cx="20574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487168" y="1005840"/>
            <a:ext cx="20574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532888" y="10058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ml_engine.py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32888" y="128016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 Engine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32888" y="1481328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inference, confidence scoring, response tier mapping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267712"/>
            <a:ext cx="20574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74320" y="2267712"/>
            <a:ext cx="20574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20040" y="22677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feature_extractor.py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2542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27432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eBPF ring buffer, builds flow-level feature vectors (14 features)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87168" y="2267712"/>
            <a:ext cx="20574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487168" y="2267712"/>
            <a:ext cx="20574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2532888" y="22677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response_manager.py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32888" y="2542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Manager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32888" y="2743200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decisions to eBPF maps; handles rate-limit &amp; block actions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529584"/>
            <a:ext cx="20574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4320" y="3529584"/>
            <a:ext cx="20574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320040" y="35295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(Flask)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0040" y="38039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40050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stats, alert log, RF confidence distribution view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487168" y="3529584"/>
            <a:ext cx="20574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2487168" y="3529584"/>
            <a:ext cx="205740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532888" y="35295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random_forest.pkl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32888" y="38039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RF Model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532888" y="40050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CIC-IDS-2017 trained, 100 estimators, max_depth=20, SMOTE balanced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64008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63440" y="1005840"/>
            <a:ext cx="42519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754880" y="104241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eBPF/XDP?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124358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Pre-stack processing on commodity hardware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0" y="143560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Soldani et al. (2023); Loureiro et al. (2023)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63440" y="1801368"/>
            <a:ext cx="42519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754880" y="183794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0" y="203911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98%+ accuracy on CIC-IDS-2017; 0.61ms inference; confidence-native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223113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et al. (2026); Sadia et al. (2024)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63440" y="2596896"/>
            <a:ext cx="42519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4754880" y="263347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confidence-based response?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54880" y="283464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false-positive enforcement on legitimate clinical traffic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54880" y="302666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contribution — Lee et al. (2024) identified this gap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63440" y="3392424"/>
            <a:ext cx="42519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4754880" y="342900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CIC-IDS-2017?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754880" y="363016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DDoS, port scan, reconnaissance — matches healthcare threat model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54880" y="38221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Kostopoulos et al. (2023); Javeed et al. (2023)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63440" y="4187952"/>
            <a:ext cx="42519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4754880" y="422452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14 features?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754880" y="4425696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statistics extractable at kernel level; validated by RF feature importance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54880" y="4617720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et al. (2026); Sadia et al. (2024)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16002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69494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98.62%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93392" y="658368"/>
            <a:ext cx="16002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993392" y="69494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98.62%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93392" y="10058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12464" y="658368"/>
            <a:ext cx="16002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712464" y="69494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 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12464" y="10058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31536" y="658368"/>
            <a:ext cx="16002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31536" y="69494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31536" y="10058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150608" y="658368"/>
            <a:ext cx="16002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150608" y="69494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sec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50608" y="10058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Time-to-Mitigate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1463040"/>
            <a:ext cx="420624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74320" y="1463040"/>
            <a:ext cx="420624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5760" y="1463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1: Benign Traffic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181051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FPR: 0% | 0 false blocks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500 benign flows correctly PASSED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overhead: &lt;3% additional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463040"/>
            <a:ext cx="420624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709160" y="1463040"/>
            <a:ext cx="420624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800600" y="14630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2: SYN Flood DDoS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81051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Rate: 100%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 malicious packets blocked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TTM: 1.2s vs 12.4s (traditional)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017520"/>
            <a:ext cx="420624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74320" y="3017520"/>
            <a:ext cx="42062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65760" y="3017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3: Port Scan Reconnaissance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336499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Rate: 98.1%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Rate-limiting applied at confidence 65–80%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FPR: 1.9% (near-zero)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017520"/>
            <a:ext cx="420624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709160" y="3017520"/>
            <a:ext cx="420624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4800600" y="3017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4: Mixed Attack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336499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DDoS + port scan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 97.8% | FPR: 2.2%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high-conf flows blocked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57200" y="46360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ML-IPS outperforms BOTH baselines (static eBPF/XDP and traditional iptables IPS) on all key metrics: detection accuracy, FPR, TTM, CPU utilisation, and response automation.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Performance Comparison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 by Configuration &amp; Scenario (%)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896112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39136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Time-to-Mitigate Comparison (seconds)</a:t>
            </a:r>
            <a:endParaRPr lang="en-US" sz="11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274320" y="4160520"/>
          <a:ext cx="5303520" cy="841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5806440" y="62179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Offline Performance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896112"/>
          <a:ext cx="3154680" cy="271576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(weighted)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(weighted)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(weighted)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 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/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 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806440" y="3794760"/>
            <a:ext cx="3154680" cy="1170432"/>
          </a:xfrm>
          <a:prstGeom prst="rect">
            <a:avLst/>
          </a:prstGeom>
          <a:solidFill>
            <a:srgbClr val="F0F9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8"/>
          <p:cNvSpPr/>
          <p:nvPr/>
        </p:nvSpPr>
        <p:spPr>
          <a:xfrm>
            <a:off x="5897880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Related Literature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897880" y="406908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et al. (2026) — 98.2% (IoT, no healthcare constraints)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5897880" y="427939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Kostopoulos et al. (2023) — real-time but no confidence tier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5897880" y="448970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et al. (2024) — programmable switch, not commodity HW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5897880" y="470001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— 98.62%, healthcare-aware, commodity Linux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274320" y="5486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0" y="548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66751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1605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10896" y="109728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66928" y="104241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eBPF/XDP + ML IPS designed and validated for healthcare operational constraints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gap: Kim (2025); Lee et al. (2024)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1783080"/>
            <a:ext cx="41605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10896" y="185623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66928" y="180136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Confidence-based 3-tier adaptive response framework to minimise clinical false positives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" y="213055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contribution — not present in Kostopoulos et al. (2023)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74320" y="2542032"/>
            <a:ext cx="41605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10896" y="261518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66928" y="256032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on commodity Linux hardware — IPS-Node (Ubuntu 22.04, 4vCPU/8GB)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" y="2889504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Soldani et al. (2023) advocated for eBPF on commodity infra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74320" y="3300984"/>
            <a:ext cx="41605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10896" y="337413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66928" y="33192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baseline: 98.62% accuracy, 0.61ms latency, 0% FPR on benign traffic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3648456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Khan et al. (2026) and Sadia et al. (2024) baselines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74320" y="4059936"/>
            <a:ext cx="4160520" cy="658368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10896" y="413308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66928" y="407822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research objectives met; all 4 research questions answered quantitatively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6928" y="4407408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mapping: Table 6.1 in dissertation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9160" y="66751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Limitations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1024128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testbed — not validated on physical hospital networks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1481328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CIC-IDS-2017 (2017) — may not capture latest attack patterns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1938528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3/4 only — no application-layer or encrypted traffic analysis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2395728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Single-NIC, single-node deployment — no distributed evaluation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2926080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00600" y="29443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327355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hospital testbed validation with real clinical traffic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09160" y="360273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packet inspection &amp; TLS-aware analysis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09160" y="39319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GNN models for temporal attack pattern detection  —  Li et al. (2023) — federated learning direction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09160" y="426110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 for enterprise SOC deployment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09160" y="4489704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across multi-hospital nodes  —  Li et al. (2023)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57200" y="47731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demonstrates that eBPF/XDP + ML can deliver practical, commodity-deployable, and safety-aware intrusion prevention for life-critical healthcare network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2560320"/>
            <a:ext cx="5486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0584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273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 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34640" y="3273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344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3273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(Benign)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32735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Mitigation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Ganiyu Kolapo Abdulrasheed  |  U2874806  |  MSc Cyber Security Engineering  |  University of East London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Shahzad Memon  |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1910</Words>
  <Application>Microsoft Office PowerPoint</Application>
  <PresentationFormat>On-screen Show (16:9)</PresentationFormat>
  <Paragraphs>271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ML-Based IPS for Healthcare Networks using eBPF and XDP</dc:title>
  <dc:subject>PptxGenJS Presentation</dc:subject>
  <dc:creator>PptxGenJS</dc:creator>
  <cp:lastModifiedBy>Kolapo Abdulrasheed GANIYU</cp:lastModifiedBy>
  <cp:revision>2</cp:revision>
  <dcterms:created xsi:type="dcterms:W3CDTF">2026-05-07T15:30:40Z</dcterms:created>
  <dcterms:modified xsi:type="dcterms:W3CDTF">2026-05-07T17:40:20Z</dcterms:modified>
</cp:coreProperties>
</file>